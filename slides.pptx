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Raleway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Medium-bold.fntdata"/><Relationship Id="rId30" Type="http://schemas.openxmlformats.org/officeDocument/2006/relationships/font" Target="fonts/RalewayMedium-regular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1622d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1622d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d9c6705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d9c6705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73b78ba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073b78b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073b78ba9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073b78ba9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073b78ba9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073b78ba9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73b78ba9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073b78ba9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73b78ba9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073b78ba9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073b78ba9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073b78ba9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73b78ba9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73b78ba9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73b78ba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73b78ba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073b78ba9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073b78ba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073b78ba9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073b78ba9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073b78ba9_6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073b78ba9_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073b78ba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073b78ba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073b78ba9_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073b78ba9_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6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1" l="0" r="0" t="4362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6" l="9050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6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729450" y="1322450"/>
            <a:ext cx="37878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Shopping Lists in the Cloud</a:t>
            </a:r>
            <a:endParaRPr/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729600" y="2921750"/>
            <a:ext cx="37878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SDLE Project Presentation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939300" y="3870950"/>
            <a:ext cx="30555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Jakub Popiel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- up202501735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Mateusz Gieroba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up202501728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Rodrigo Tsou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up202208354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729450" y="1322450"/>
            <a:ext cx="2959800" cy="16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and Overview</a:t>
            </a:r>
            <a:endParaRPr/>
          </a:p>
        </p:txBody>
      </p:sp>
      <p:sp>
        <p:nvSpPr>
          <p:cNvPr id="143" name="Google Shape;143;p18"/>
          <p:cNvSpPr txBox="1"/>
          <p:nvPr>
            <p:ph idx="4294967295" type="subTitle"/>
          </p:nvPr>
        </p:nvSpPr>
        <p:spPr>
          <a:xfrm>
            <a:off x="4513500" y="249275"/>
            <a:ext cx="4080000" cy="45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This project implements a distributed shopping list application designed to explore key concepts of distributed systems, such as replication, fault tolerance, and network partitions.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The system follows a local-first approach, where clients store data locally and synchronize with a cloud cluster when connectivity is available. The cloud is composed of multiple shards with replicated nodes, ensuring scalability and resilience.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Communication between components is implemented using ZeroMQ, combining request–reply and gossip mechanisms to propagate updates across the system.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A key feature of the project is </a:t>
            </a:r>
            <a:r>
              <a:rPr lang="en" sz="1100">
                <a:solidFill>
                  <a:schemeClr val="lt1"/>
                </a:solidFill>
              </a:rPr>
              <a:t>state-reconciliation between server nodes and clients and </a:t>
            </a:r>
            <a:r>
              <a:rPr lang="en" sz="1100">
                <a:solidFill>
                  <a:schemeClr val="lt1"/>
                </a:solidFill>
              </a:rPr>
              <a:t>dynamic discovery, which allow for high fault tolerance and scalability.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Overall, the project demonstrates how a distributed application can remain functional and consistent under unreliable network conditions, while providing tools to observe and control its behavior in real time.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3807050" y="323700"/>
            <a:ext cx="4915500" cy="4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designed the system with a focus on performance, reliability, and transparency, using low-level technologies that allow fine-grained control over distributed behavior.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application is implemented in C++, enabling explicit management of concurrency, networking, and data consistency.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C++, as the main programming language for both client and cloud components;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ZeroMQ (cppzmq)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for high-performance messaging using multiple communication patterns;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Pistache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used to expose a REST API and serve the web-based interface;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SQLite3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providing lightweight persistent storage;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MessagePack (msgpack-c)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for efficient binary serialization of messages exchanged between nodes;</a:t>
            </a:r>
            <a:b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technologies together enable a replicated, fault-tolerant distributed system, suitable for demonstrating failures, network partitions, and recovery in real time.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3829125" y="257550"/>
            <a:ext cx="4915500" cy="4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API acts as the central coordination layer between the web interface, the local database, and the cloud cluster.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exposes a REST interface (via Pistache) that allows clients to create, update, retrieve, and delete shopping lists and items, while transparently handling cloud communication and fault scenarios.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API follows a local-first design: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operations are first consulted with a local SQLite database.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Updates are then propagated to the cloud cluster using ZeroMQ request–reply communication.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the cloud is unavailable, the client continues to operate locally.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the cloud is available, results of the operations are merged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 result of an operation is stored in a local database.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Overall, the API encapsulates cloud interaction, consistency handling, and failure simulation, providing a clean and simple interface to the frontend.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3836500" y="787350"/>
            <a:ext cx="49155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API was designed to isolate distributed-system complexity from the frontend and provide a stable interaction layer.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design decisions include: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 abstraction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the UI is unaware of shards, replicas, or node failures.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Explicit fault handling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cloud timeouts and disconnections are treated as normal execution paths.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Deterministic routing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shard selection is derived from list identifiers, ensuring consistent access to data.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Separation of concerns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data operations and control operations are handled independently.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combining data access, cloud coordination, and failure control in a single component, the API simplifies client logic while enabling robust behavior under network partitions and node failures.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5200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729450" y="1322450"/>
            <a:ext cx="27171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Local-First Approach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3865900" y="949200"/>
            <a:ext cx="4915500" cy="3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initial phase, the client initializes and validates the presence of a local SQLite database, following a predefined schema for shopping lists and items.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shopping list and item is assigned a locally generated unique identifier, ensuring: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Independence from user input;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reliance on synchronized clocks or timestamps.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data is created and stored locally first, allowing the system to operate independently of the cloud.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Only the creator of a shopping list (the originating client) can delete it, and this operation is irreversible and propagated throughout the system to ensure consistency.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2"/>
          <p:cNvSpPr txBox="1"/>
          <p:nvPr>
            <p:ph type="title"/>
          </p:nvPr>
        </p:nvSpPr>
        <p:spPr>
          <a:xfrm>
            <a:off x="729450" y="2424575"/>
            <a:ext cx="27171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(Data Model and Initialization)</a:t>
            </a:r>
            <a:endParaRPr sz="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5200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729450" y="1322450"/>
            <a:ext cx="27171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Local-First Approach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3895350" y="1097425"/>
            <a:ext cx="4915500" cy="3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Local state is the primary source of truth, with the cloud used for synchronization.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 request management: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all user actions are handled immediately by the client through the API.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Fault tolerance: 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full state of the shopping list is persisted locally, allowing recovery after crashes or disconnections.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Cloud synchronization: 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when connectivity is available, the local state is sent to the cloud and merged with the remote state.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cloud acts as a synchronization and replication layer, not as a single source of truth.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design guarantees low latency, resilience to failures, and continuous usability, even during network partitions or cloud outages.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3"/>
          <p:cNvSpPr txBox="1"/>
          <p:nvPr>
            <p:ph type="title"/>
          </p:nvPr>
        </p:nvSpPr>
        <p:spPr>
          <a:xfrm>
            <a:off x="729450" y="2424575"/>
            <a:ext cx="27171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(Execution and Synchronization)</a:t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3873275" y="949200"/>
            <a:ext cx="4915500" cy="3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cloud is composed of a cluster of nodes, organized into shards with multiple replicas to ensure scalability and fault tolerance.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node is responsible for: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Storing and managing shopping lists assigned to its shard;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Maintaining a list of alive nodes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Serving client requests via request–reply communication;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Propagating state to other replicas.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uses two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communication patterns: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REQ/REP 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client–node interactions;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Gossip (PUSH/PULL)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for background state synchronization as well as dynamic discovery and eviction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architecture allows the cloud to remain decentralized, with no single point of failure.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4"/>
          <p:cNvSpPr txBox="1"/>
          <p:nvPr>
            <p:ph type="title"/>
          </p:nvPr>
        </p:nvSpPr>
        <p:spPr>
          <a:xfrm>
            <a:off x="780950" y="1894775"/>
            <a:ext cx="1230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(Architecture</a:t>
            </a:r>
            <a:r>
              <a:rPr lang="en" sz="1200"/>
              <a:t>)</a:t>
            </a:r>
            <a:endParaRPr sz="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3873275" y="611550"/>
            <a:ext cx="49155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shard is replicated across multiple nodes, ensuring that data remains available even if some replicas fail or disconnect.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properties: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Replication within shards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guarantees redundancy and resilience;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Eventual consistency 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achieved through gossip and state  merging;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Node failures and partitions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are tolerated without stopping the system.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demonstration purposes, nodes can be dynamically added, stopped, restarted and removed at runtime, reconnected nodes synchronize automatically via gossip, which is also used as heartbeat;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design allows the system to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simulate real-world cloud failures and recovery scenarios.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5"/>
          <p:cNvSpPr txBox="1"/>
          <p:nvPr>
            <p:ph type="title"/>
          </p:nvPr>
        </p:nvSpPr>
        <p:spPr>
          <a:xfrm>
            <a:off x="729450" y="1902125"/>
            <a:ext cx="34089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(Replication and Fault </a:t>
            </a:r>
            <a:r>
              <a:rPr lang="en" sz="1200"/>
              <a:t>Tolerance</a:t>
            </a:r>
            <a:r>
              <a:rPr lang="en" sz="1200"/>
              <a:t>)</a:t>
            </a:r>
            <a:endParaRPr sz="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3873275" y="611550"/>
            <a:ext cx="49155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cluster is composed of: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Multiple shards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each responsible for a subset of shopping lists;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Multiple replicas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per shard, providing redundancy and availability.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At startup: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node is assigned a unique identifier and its shard,;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Dedicated endpoints  are allocated for client requests and gossip;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Nodes can be dynamically added as long as they know at least one live node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centralized bootstrapping simplifies experimentation while preserving a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fully decentralized runtime behavior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6"/>
          <p:cNvSpPr txBox="1"/>
          <p:nvPr>
            <p:ph type="title"/>
          </p:nvPr>
        </p:nvSpPr>
        <p:spPr>
          <a:xfrm>
            <a:off x="729450" y="1894800"/>
            <a:ext cx="19959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(Setup and Execution)</a:t>
            </a:r>
            <a:endParaRPr sz="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5F0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node operates as an independent replica responsible for managing shopping lists belonging to its shard.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Node responsibilities include: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Handling client requests via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REQ/REP communication;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Storing data locally using SQLite;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Periodically synchronizing state via 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PUSH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/PULL gossip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Merging states received both from clients and other nodes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design allows the system to demonstrate replication, eventual consistency, and recovery under real-world failure scenarios.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7"/>
          <p:cNvSpPr txBox="1"/>
          <p:nvPr>
            <p:ph type="title"/>
          </p:nvPr>
        </p:nvSpPr>
        <p:spPr>
          <a:xfrm>
            <a:off x="729450" y="1894800"/>
            <a:ext cx="19959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(Responsibilities and Behavior)</a:t>
            </a:r>
            <a:endParaRPr sz="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CRDT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OR-Set is used to represent the set of items in a shopping list under concurrent updates.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add operation generates a unique tag.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 operations do not delete data, but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invalidate specific add tags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 item exists if at least one add tag has not been removed.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OR-Set allows replicas to independently update item sets and later converge to the same state without conflicts.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8"/>
          <p:cNvSpPr txBox="1"/>
          <p:nvPr>
            <p:ph type="title"/>
          </p:nvPr>
        </p:nvSpPr>
        <p:spPr>
          <a:xfrm>
            <a:off x="729450" y="1894800"/>
            <a:ext cx="19959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(OR-Set)</a:t>
            </a:r>
            <a:endParaRPr sz="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CRDT</a:t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PN-Counter is used to model quantities (e.g. desired and current item counts) in a distributed setting.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replica maintains its own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positive and negative counters</a:t>
            </a: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total value is computed as the sum of increments minus decrements.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During synchronization, counters are merged by taking the </a:t>
            </a: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maximum value per replica.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design allows concurrent increments and decrements without coordination, while guaranteeing eventual consistency.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Together with the OR-Set, the PN-Counter ensures that both structure and quantities of shopping lists converge correctly across replicas.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9"/>
          <p:cNvSpPr txBox="1"/>
          <p:nvPr>
            <p:ph type="title"/>
          </p:nvPr>
        </p:nvSpPr>
        <p:spPr>
          <a:xfrm>
            <a:off x="729450" y="1894800"/>
            <a:ext cx="19959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(PN-Counter)</a:t>
            </a:r>
            <a:endParaRPr sz="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729450" y="1322450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Interface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web interface was designed as a simple and functional control panel for interacting with the system and demonstrating its distributed behavior.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design principles: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Simplicity and clarity: all actions are explicit and require minimal input.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Separation of concerns: list management and item management are clearly separated.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Immediate feedback: the interface reflects changes as soon as operations are executed.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Overall, the interface prioritizes demonstrability over complexity, making it suitable for showcasing local-first behavior, fault tolerance, and cloud synchronization in a live presentation.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627175" y="87725"/>
            <a:ext cx="27171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Interface</a:t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075" y="1673098"/>
            <a:ext cx="7283850" cy="276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6666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729450" y="1322450"/>
            <a:ext cx="29010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3873275" y="611550"/>
            <a:ext cx="4915500" cy="4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