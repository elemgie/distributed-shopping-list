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Raleway"/>
      <p:regular r:id="rId22"/>
      <p:bold r:id="rId23"/>
      <p:italic r:id="rId24"/>
      <p:boldItalic r:id="rId25"/>
    </p:embeddedFont>
    <p:embeddedFont>
      <p:font typeface="Lato"/>
      <p:regular r:id="rId26"/>
      <p:bold r:id="rId27"/>
      <p:italic r:id="rId28"/>
      <p:boldItalic r:id="rId29"/>
    </p:embeddedFont>
    <p:embeddedFont>
      <p:font typeface="Raleway Medium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Raleway-regular.fntdata"/><Relationship Id="rId21" Type="http://schemas.openxmlformats.org/officeDocument/2006/relationships/slide" Target="slides/slide16.xml"/><Relationship Id="rId24" Type="http://schemas.openxmlformats.org/officeDocument/2006/relationships/font" Target="fonts/Raleway-italic.fntdata"/><Relationship Id="rId23" Type="http://schemas.openxmlformats.org/officeDocument/2006/relationships/font" Target="fonts/Raleway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Lato-regular.fntdata"/><Relationship Id="rId25" Type="http://schemas.openxmlformats.org/officeDocument/2006/relationships/font" Target="fonts/Raleway-boldItalic.fntdata"/><Relationship Id="rId28" Type="http://schemas.openxmlformats.org/officeDocument/2006/relationships/font" Target="fonts/Lato-italic.fntdata"/><Relationship Id="rId27" Type="http://schemas.openxmlformats.org/officeDocument/2006/relationships/font" Target="fonts/Lat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La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RalewayMedium-bold.fntdata"/><Relationship Id="rId30" Type="http://schemas.openxmlformats.org/officeDocument/2006/relationships/font" Target="fonts/RalewayMedium-regular.fntdata"/><Relationship Id="rId11" Type="http://schemas.openxmlformats.org/officeDocument/2006/relationships/slide" Target="slides/slide6.xml"/><Relationship Id="rId33" Type="http://schemas.openxmlformats.org/officeDocument/2006/relationships/font" Target="fonts/RalewayMedium-boldItalic.fntdata"/><Relationship Id="rId10" Type="http://schemas.openxmlformats.org/officeDocument/2006/relationships/slide" Target="slides/slide5.xml"/><Relationship Id="rId32" Type="http://schemas.openxmlformats.org/officeDocument/2006/relationships/font" Target="fonts/RalewayMedium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25f6af9dd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25f6af9dd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51622d556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51622d556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1d9c67055b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1d9c67055b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b073b78ba9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b073b78ba9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b073b78ba9_3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b073b78ba9_3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b073b78ba9_3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b073b78ba9_3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b073b78ba9_3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b073b78ba9_3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b073b78ba9_3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b073b78ba9_3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073b78ba9_3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b073b78ba9_3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b073b78ba9_3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b073b78ba9_3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b073b78ba9_3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b073b78ba9_3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b073b78ba9_6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b073b78ba9_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b073b78ba9_6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b073b78ba9_6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b073b78ba9_6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b073b78ba9_6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b073b78ba9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b073b78ba9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b073b78ba9_6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b073b78ba9_6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729450" y="1322450"/>
            <a:ext cx="3787800" cy="198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729595" y="3401500"/>
            <a:ext cx="37878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4" name="Google Shape;14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solidFill>
          <a:schemeClr val="lt2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ctrTitle"/>
          </p:nvPr>
        </p:nvSpPr>
        <p:spPr>
          <a:xfrm>
            <a:off x="729450" y="1322450"/>
            <a:ext cx="3787800" cy="198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" type="subTitle"/>
          </p:nvPr>
        </p:nvSpPr>
        <p:spPr>
          <a:xfrm>
            <a:off x="729595" y="3401500"/>
            <a:ext cx="37878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1" name="Google Shape;21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2" name="Google Shape;22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" name="Google Shape;24;p3"/>
          <p:cNvSpPr/>
          <p:nvPr/>
        </p:nvSpPr>
        <p:spPr>
          <a:xfrm>
            <a:off x="0" y="1"/>
            <a:ext cx="9144000" cy="467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>
            <a:off x="5063224" y="1313339"/>
            <a:ext cx="3459829" cy="2670551"/>
            <a:chOff x="3553042" y="1657806"/>
            <a:chExt cx="3461100" cy="2671532"/>
          </a:xfrm>
        </p:grpSpPr>
        <p:sp>
          <p:nvSpPr>
            <p:cNvPr id="26" name="Google Shape;26;p3"/>
            <p:cNvSpPr/>
            <p:nvPr/>
          </p:nvSpPr>
          <p:spPr>
            <a:xfrm>
              <a:off x="4856024" y="3625653"/>
              <a:ext cx="944700" cy="663300"/>
            </a:xfrm>
            <a:prstGeom prst="trapezoid">
              <a:avLst>
                <a:gd fmla="val 25000" name="adj"/>
              </a:avLst>
            </a:prstGeom>
            <a:solidFill>
              <a:srgbClr val="CCCCC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10800000">
              <a:off x="4953871" y="3681997"/>
              <a:ext cx="400200" cy="606600"/>
            </a:xfrm>
            <a:prstGeom prst="triangle">
              <a:avLst>
                <a:gd fmla="val 96745" name="adj"/>
              </a:avLst>
            </a:prstGeom>
            <a:solidFill>
              <a:srgbClr val="99999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>
              <a:off x="4767796" y="3681816"/>
              <a:ext cx="163500" cy="606600"/>
            </a:xfrm>
            <a:prstGeom prst="triangle">
              <a:avLst>
                <a:gd fmla="val 98558" name="adj"/>
              </a:avLst>
            </a:prstGeom>
            <a:solidFill>
              <a:srgbClr val="99999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10800000">
              <a:off x="4678237" y="4276102"/>
              <a:ext cx="1210800" cy="45600"/>
            </a:xfrm>
            <a:prstGeom prst="roundRect">
              <a:avLst>
                <a:gd fmla="val 5000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rot="10800000">
              <a:off x="4668343" y="4283738"/>
              <a:ext cx="1230600" cy="45600"/>
            </a:xfrm>
            <a:prstGeom prst="roundRect">
              <a:avLst>
                <a:gd fmla="val 50000" name="adj"/>
              </a:avLst>
            </a:prstGeom>
            <a:solidFill>
              <a:srgbClr val="B7B7B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>
              <a:off x="4926950" y="3681915"/>
              <a:ext cx="42900" cy="59430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>
              <a:off x="3553042" y="1674645"/>
              <a:ext cx="3461100" cy="2014500"/>
            </a:xfrm>
            <a:prstGeom prst="roundRect">
              <a:avLst>
                <a:gd fmla="val 1882" name="adj"/>
              </a:avLst>
            </a:prstGeom>
            <a:solidFill>
              <a:srgbClr val="66666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3553042" y="1657806"/>
              <a:ext cx="3461100" cy="2014500"/>
            </a:xfrm>
            <a:prstGeom prst="roundRect">
              <a:avLst>
                <a:gd fmla="val 1764" name="adj"/>
              </a:avLst>
            </a:prstGeom>
            <a:solidFill>
              <a:srgbClr val="43434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Component Detail" id="34" name="Google Shape;34;p3"/>
          <p:cNvPicPr preferRelativeResize="0"/>
          <p:nvPr/>
        </p:nvPicPr>
        <p:blipFill rotWithShape="1">
          <a:blip r:embed="rId2">
            <a:alphaModFix/>
          </a:blip>
          <a:srcRect b="25076" l="0" r="0" t="0"/>
          <a:stretch/>
        </p:blipFill>
        <p:spPr>
          <a:xfrm>
            <a:off x="5161725" y="1399791"/>
            <a:ext cx="3262825" cy="1833425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3"/>
          <p:cNvSpPr/>
          <p:nvPr/>
        </p:nvSpPr>
        <p:spPr>
          <a:xfrm flipH="1">
            <a:off x="5156196" y="1401826"/>
            <a:ext cx="3268577" cy="1812993"/>
          </a:xfrm>
          <a:prstGeom prst="rtTriangle">
            <a:avLst/>
          </a:prstGeom>
          <a:solidFill>
            <a:srgbClr val="000000">
              <a:alpha val="308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6" name="Google Shape;36;p3"/>
          <p:cNvGrpSpPr/>
          <p:nvPr/>
        </p:nvGrpSpPr>
        <p:grpSpPr>
          <a:xfrm>
            <a:off x="7666681" y="2077877"/>
            <a:ext cx="1148179" cy="2282764"/>
            <a:chOff x="7666681" y="2077877"/>
            <a:chExt cx="1148179" cy="2282764"/>
          </a:xfrm>
        </p:grpSpPr>
        <p:grpSp>
          <p:nvGrpSpPr>
            <p:cNvPr id="37" name="Google Shape;37;p3"/>
            <p:cNvGrpSpPr/>
            <p:nvPr/>
          </p:nvGrpSpPr>
          <p:grpSpPr>
            <a:xfrm>
              <a:off x="7666681" y="2077877"/>
              <a:ext cx="1148179" cy="2282764"/>
              <a:chOff x="3983627" y="1676395"/>
              <a:chExt cx="1449538" cy="2881914"/>
            </a:xfrm>
          </p:grpSpPr>
          <p:sp>
            <p:nvSpPr>
              <p:cNvPr id="38" name="Google Shape;38;p3"/>
              <p:cNvSpPr/>
              <p:nvPr/>
            </p:nvSpPr>
            <p:spPr>
              <a:xfrm rot="-5400000">
                <a:off x="3276827" y="2404608"/>
                <a:ext cx="2860500" cy="1446900"/>
              </a:xfrm>
              <a:prstGeom prst="roundRect">
                <a:avLst>
                  <a:gd fmla="val 4551" name="adj"/>
                </a:avLst>
              </a:prstGeom>
              <a:solidFill>
                <a:srgbClr val="66666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3"/>
              <p:cNvSpPr/>
              <p:nvPr/>
            </p:nvSpPr>
            <p:spPr>
              <a:xfrm rot="-5400000">
                <a:off x="3279465" y="2383195"/>
                <a:ext cx="2860500" cy="1446900"/>
              </a:xfrm>
              <a:prstGeom prst="roundRect">
                <a:avLst>
                  <a:gd fmla="val 4551" name="adj"/>
                </a:avLst>
              </a:prstGeom>
              <a:solidFill>
                <a:srgbClr val="33333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" name="Google Shape;40;p3"/>
              <p:cNvSpPr/>
              <p:nvPr/>
            </p:nvSpPr>
            <p:spPr>
              <a:xfrm>
                <a:off x="4473243" y="4318802"/>
                <a:ext cx="472800" cy="76800"/>
              </a:xfrm>
              <a:prstGeom prst="roundRect">
                <a:avLst>
                  <a:gd fmla="val 50000" name="adj"/>
                </a:avLst>
              </a:prstGeom>
              <a:solidFill>
                <a:srgbClr val="4B4B4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pic>
          <p:nvPicPr>
            <p:cNvPr descr="Mobile View" id="41" name="Google Shape;41;p3"/>
            <p:cNvPicPr preferRelativeResize="0"/>
            <p:nvPr/>
          </p:nvPicPr>
          <p:blipFill rotWithShape="1">
            <a:blip r:embed="rId3">
              <a:alphaModFix/>
            </a:blip>
            <a:srcRect b="4371" l="0" r="0" t="4362"/>
            <a:stretch/>
          </p:blipFill>
          <p:spPr>
            <a:xfrm>
              <a:off x="7720839" y="2222723"/>
              <a:ext cx="1037555" cy="18334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2" name="Google Shape;42;p3"/>
            <p:cNvSpPr/>
            <p:nvPr/>
          </p:nvSpPr>
          <p:spPr>
            <a:xfrm flipH="1">
              <a:off x="7722342" y="2222973"/>
              <a:ext cx="1037700" cy="1833000"/>
            </a:xfrm>
            <a:prstGeom prst="rtTriangle">
              <a:avLst/>
            </a:prstGeom>
            <a:solidFill>
              <a:srgbClr val="000000">
                <a:alpha val="308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44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5" name="Google Shape;45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1" name="Google Shape;51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2" name="Google Shape;52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4" name="Google Shape;54;p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55" name="Google Shape;55;p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6" name="Google Shape;56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9" name="Google Shape;59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0" name="Google Shape;60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2" name="Google Shape;62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3" name="Google Shape;63;p6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4" name="Google Shape;64;p6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5" name="Google Shape;65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8" name="Google Shape;68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9" name="Google Shape;69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72" name="Google Shape;72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8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9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8" name="Google Shape;78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79" name="Google Shape;79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1" name="Google Shape;81;p9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2" name="Google Shape;82;p9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83" name="Google Shape;83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10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86" name="Google Shape;86;p10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0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10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1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2" name="Google Shape;92;p11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93" name="Google Shape;93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11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96" name="Google Shape;96;p11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de view of hands writing in a notebook at a cafe" id="100" name="Google Shape;100;p12"/>
          <p:cNvPicPr preferRelativeResize="0"/>
          <p:nvPr/>
        </p:nvPicPr>
        <p:blipFill rotWithShape="1">
          <a:blip r:embed="rId2">
            <a:alphaModFix/>
          </a:blip>
          <a:srcRect b="26446" l="9050" r="54351" t="12064"/>
          <a:stretch/>
        </p:blipFill>
        <p:spPr>
          <a:xfrm>
            <a:off x="1" y="-50"/>
            <a:ext cx="4572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2"/>
          <p:cNvSpPr/>
          <p:nvPr/>
        </p:nvSpPr>
        <p:spPr>
          <a:xfrm>
            <a:off x="1650" y="0"/>
            <a:ext cx="4568700" cy="5143500"/>
          </a:xfrm>
          <a:prstGeom prst="rect">
            <a:avLst/>
          </a:prstGeom>
          <a:solidFill>
            <a:srgbClr val="178D7D">
              <a:alpha val="6808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2" name="Google Shape;102;p1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03" name="Google Shape;103;p1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5" name="Google Shape;105;p12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06" name="Google Shape;106;p12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07" name="Google Shape;107;p12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8" name="Google Shape;108;p12"/>
          <p:cNvSpPr txBox="1"/>
          <p:nvPr>
            <p:ph idx="12" type="sldNum"/>
          </p:nvPr>
        </p:nvSpPr>
        <p:spPr>
          <a:xfrm>
            <a:off x="8536300" y="474985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 2">
  <p:cSld name="SECTION_TITLE_AND_DESCRIPTION_1_2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3"/>
          <p:cNvPicPr preferRelativeResize="0"/>
          <p:nvPr/>
        </p:nvPicPr>
        <p:blipFill rotWithShape="1">
          <a:blip r:embed="rId2">
            <a:alphaModFix/>
          </a:blip>
          <a:srcRect b="0" l="31883" r="25713" t="8096"/>
          <a:stretch/>
        </p:blipFill>
        <p:spPr>
          <a:xfrm>
            <a:off x="0" y="0"/>
            <a:ext cx="45752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3"/>
          <p:cNvSpPr/>
          <p:nvPr/>
        </p:nvSpPr>
        <p:spPr>
          <a:xfrm>
            <a:off x="-75" y="0"/>
            <a:ext cx="4572000" cy="5143500"/>
          </a:xfrm>
          <a:prstGeom prst="rect">
            <a:avLst/>
          </a:prstGeom>
          <a:solidFill>
            <a:srgbClr val="178D7D">
              <a:alpha val="6808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2" name="Google Shape;112;p1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13" name="Google Shape;113;p1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5" name="Google Shape;115;p13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 sz="30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16" name="Google Shape;116;p13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17" name="Google Shape;117;p13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rtl="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rtl="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rtl="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rtl="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8" name="Google Shape;118;p1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4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21" name="Google Shape;121;p1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oogle Shape;123;p15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124" name="Google Shape;124;p1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1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6" name="Google Shape;126;p15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7" name="Google Shape;127;p15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8" name="Google Shape;128;p1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6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7"/>
          <p:cNvSpPr txBox="1"/>
          <p:nvPr>
            <p:ph type="ctrTitle"/>
          </p:nvPr>
        </p:nvSpPr>
        <p:spPr>
          <a:xfrm>
            <a:off x="729450" y="1322450"/>
            <a:ext cx="3787800" cy="14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Shopping Lists in the Cloud</a:t>
            </a:r>
            <a:endParaRPr/>
          </a:p>
        </p:txBody>
      </p:sp>
      <p:sp>
        <p:nvSpPr>
          <p:cNvPr id="136" name="Google Shape;136;p17"/>
          <p:cNvSpPr txBox="1"/>
          <p:nvPr>
            <p:ph idx="1" type="subTitle"/>
          </p:nvPr>
        </p:nvSpPr>
        <p:spPr>
          <a:xfrm>
            <a:off x="729600" y="2921750"/>
            <a:ext cx="3787800" cy="82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SDLE Project Presentation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5939300" y="3870950"/>
            <a:ext cx="3055500" cy="9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Jakub Popiel</a:t>
            </a:r>
            <a:r>
              <a:rPr lang="en" sz="11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- up202501735</a:t>
            </a:r>
            <a:endParaRPr sz="11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Mateusz Gieroba </a:t>
            </a:r>
            <a:r>
              <a:rPr lang="en" sz="11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- up202501728</a:t>
            </a:r>
            <a:endParaRPr sz="11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Rodrigo Tsou </a:t>
            </a:r>
            <a:r>
              <a:rPr lang="en" sz="11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- up202208354</a:t>
            </a:r>
            <a:endParaRPr sz="11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2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/>
          <p:cNvSpPr txBox="1"/>
          <p:nvPr>
            <p:ph type="title"/>
          </p:nvPr>
        </p:nvSpPr>
        <p:spPr>
          <a:xfrm>
            <a:off x="729450" y="1322450"/>
            <a:ext cx="2959800" cy="16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Context and Overview</a:t>
            </a:r>
            <a:endParaRPr/>
          </a:p>
        </p:txBody>
      </p:sp>
      <p:sp>
        <p:nvSpPr>
          <p:cNvPr id="143" name="Google Shape;143;p18"/>
          <p:cNvSpPr txBox="1"/>
          <p:nvPr>
            <p:ph idx="4294967295" type="subTitle"/>
          </p:nvPr>
        </p:nvSpPr>
        <p:spPr>
          <a:xfrm>
            <a:off x="4513500" y="249275"/>
            <a:ext cx="4080000" cy="450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</a:rPr>
              <a:t>This project implements a distributed shopping list application designed to explore key concepts of distributed systems, such as replication, fault tolerance, and network partitions.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</a:rPr>
              <a:t>The system follows a local-first approach, where clients store data locally and synchronize with a cloud cluster when connectivity is available. The cloud is composed of multiple shards with replicated nodes, ensuring scalability and resilience.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</a:rPr>
              <a:t>Communication between components is implemented using ZeroMQ, combining request–reply and gossip mechanisms to propagate updates across the system.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</a:rPr>
              <a:t>A key feature of the project is </a:t>
            </a:r>
            <a:r>
              <a:rPr lang="en" sz="1100">
                <a:solidFill>
                  <a:schemeClr val="lt1"/>
                </a:solidFill>
              </a:rPr>
              <a:t>state-reconciliation between server nodes and clients and </a:t>
            </a:r>
            <a:r>
              <a:rPr lang="en" sz="1100">
                <a:solidFill>
                  <a:schemeClr val="lt1"/>
                </a:solidFill>
              </a:rPr>
              <a:t>dynamic discovery, which allow for high fault tolerance and scalability.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</a:rPr>
              <a:t>Overall, the project demonstrates how a distributed application can remain functional and consistent under unreliable network conditions, while providing tools to observe and control its behavior in real time.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60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9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Technology</a:t>
            </a:r>
            <a:endParaRPr/>
          </a:p>
        </p:txBody>
      </p:sp>
      <p:sp>
        <p:nvSpPr>
          <p:cNvPr id="149" name="Google Shape;149;p19"/>
          <p:cNvSpPr txBox="1"/>
          <p:nvPr/>
        </p:nvSpPr>
        <p:spPr>
          <a:xfrm>
            <a:off x="3807050" y="323700"/>
            <a:ext cx="4915500" cy="44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We designed the system with a focus on performance, reliability, and transparency, using low-level technologies that allow fine-grained control over distributed behavior.</a:t>
            </a:r>
            <a:endParaRPr sz="10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application is implemented in C++, enabling explicit management of concurrency, networking, and data consistency.</a:t>
            </a:r>
            <a:endParaRPr sz="10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21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C++, as the main programming language for both client and cloud components;</a:t>
            </a:r>
            <a:endParaRPr sz="10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21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b="1"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ZeroMQ (cppzmq)</a:t>
            </a:r>
            <a:r>
              <a:rPr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, for high-performance messaging using multiple communication patterns;</a:t>
            </a:r>
            <a:endParaRPr sz="10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21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b="1"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Pistache</a:t>
            </a:r>
            <a:r>
              <a:rPr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, used to expose a REST API and serve the web-based interface;</a:t>
            </a:r>
            <a:endParaRPr sz="10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b="1"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SQLite3</a:t>
            </a:r>
            <a:r>
              <a:rPr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, providing lightweight persistent storage;</a:t>
            </a:r>
            <a:endParaRPr sz="10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b="1"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MessagePack (msgpack-c)</a:t>
            </a:r>
            <a:r>
              <a:rPr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, for efficient binary serialization of messages exchanged between nodes;</a:t>
            </a:r>
            <a:br>
              <a:rPr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br>
              <a:rPr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endParaRPr sz="10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These technologies together enable a replicated, fault-tolerant distributed system, suitable for demonstrating failures, network partitions, and recovery in real time.</a:t>
            </a:r>
            <a:endParaRPr sz="10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55CC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API</a:t>
            </a:r>
            <a:endParaRPr/>
          </a:p>
        </p:txBody>
      </p:sp>
      <p:sp>
        <p:nvSpPr>
          <p:cNvPr id="155" name="Google Shape;155;p20"/>
          <p:cNvSpPr txBox="1"/>
          <p:nvPr/>
        </p:nvSpPr>
        <p:spPr>
          <a:xfrm>
            <a:off x="3829125" y="257550"/>
            <a:ext cx="4915500" cy="46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API acts as the central coordination layer between the web interface, the local database, and the cloud cluster.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It exposes a REST interface (via Pistache) that allows clients to create, update, retrieve, and delete shopping lists and items, while transparently handling cloud communication and fault scenarios.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API follows a local-first design: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All operations are first consulted with a local SQLite database.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Updates are then propagated to the cloud cluster using ZeroMQ request–reply communication.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If the cloud is unavailable, the client continues to operate locally.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If the cloud is available, results of the operations are merged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Final result of an operation is stored in a local database.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Overall, the API encapsulates cloud interaction, consistency handling, and failure simulation, providing a clean and simple interface to the frontend.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55CC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1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API</a:t>
            </a:r>
            <a:endParaRPr/>
          </a:p>
        </p:txBody>
      </p:sp>
      <p:sp>
        <p:nvSpPr>
          <p:cNvPr id="161" name="Google Shape;161;p21"/>
          <p:cNvSpPr txBox="1"/>
          <p:nvPr/>
        </p:nvSpPr>
        <p:spPr>
          <a:xfrm>
            <a:off x="3836500" y="787350"/>
            <a:ext cx="4915500" cy="35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API was designed to isolate distributed-system complexity from the frontend and provide a stable interaction layer.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Key design decisions include: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Frontend abstraction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the UI is unaware of shards, replicas, or node failures.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Explicit fault handling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cloud timeouts and disconnections are treated as normal execution paths.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Deterministic routing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shard selection is derived from list identifiers, ensuring consistent access to data.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Separation of concerns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data operations and control operations are handled independently.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By combining data access, cloud coordination, and failure control in a single component, the API simplifies client logic while enabling robust behavior under network partitions and node failures.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85200C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2"/>
          <p:cNvSpPr txBox="1"/>
          <p:nvPr>
            <p:ph type="title"/>
          </p:nvPr>
        </p:nvSpPr>
        <p:spPr>
          <a:xfrm>
            <a:off x="729450" y="1322450"/>
            <a:ext cx="27171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Local-First Approach</a:t>
            </a:r>
            <a:endParaRPr/>
          </a:p>
        </p:txBody>
      </p:sp>
      <p:sp>
        <p:nvSpPr>
          <p:cNvPr id="167" name="Google Shape;167;p22"/>
          <p:cNvSpPr txBox="1"/>
          <p:nvPr/>
        </p:nvSpPr>
        <p:spPr>
          <a:xfrm>
            <a:off x="3865900" y="949200"/>
            <a:ext cx="4915500" cy="32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In the initial phase, the client initializes and validates the presence of a local SQLite database, following a predefined schema for shopping lists and items.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Each shopping list and item is assigned a locally generated unique identifier, ensuring: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Independence from user input;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No reliance on synchronized clocks or timestamps.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All data is created and stored locally first, allowing the system to operate independently of the cloud.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Only the creator of a shopping list (the originating client) can delete it, and this operation is irreversible and propagated throughout the system to ensure consistency.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8" name="Google Shape;168;p22"/>
          <p:cNvSpPr txBox="1"/>
          <p:nvPr>
            <p:ph type="title"/>
          </p:nvPr>
        </p:nvSpPr>
        <p:spPr>
          <a:xfrm>
            <a:off x="729450" y="2424575"/>
            <a:ext cx="2717100" cy="48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(Data Model and Initialization)</a:t>
            </a:r>
            <a:endParaRPr sz="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85200C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3"/>
          <p:cNvSpPr txBox="1"/>
          <p:nvPr>
            <p:ph type="title"/>
          </p:nvPr>
        </p:nvSpPr>
        <p:spPr>
          <a:xfrm>
            <a:off x="729450" y="1322450"/>
            <a:ext cx="27171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Local-First Approach</a:t>
            </a:r>
            <a:endParaRPr/>
          </a:p>
        </p:txBody>
      </p:sp>
      <p:sp>
        <p:nvSpPr>
          <p:cNvPr id="174" name="Google Shape;174;p23"/>
          <p:cNvSpPr txBox="1"/>
          <p:nvPr/>
        </p:nvSpPr>
        <p:spPr>
          <a:xfrm>
            <a:off x="3895350" y="1097425"/>
            <a:ext cx="4915500" cy="32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Local state is the primary source of truth, with the cloud used for synchronization.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Frontend request management: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all user actions are handled immediately by the client through the API.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Fault tolerance: 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full state of the shopping list is persisted locally, allowing recovery after crashes or disconnections.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Cloud synchronization: 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when connectivity is available, the local state is sent to the cloud and merged with the remote state.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cloud acts as a synchronization and replication layer, not as a single source of truth.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This design guarantees low latency, resilience to failures, and continuous usability, even during network partitions or cloud outages.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5" name="Google Shape;175;p23"/>
          <p:cNvSpPr txBox="1"/>
          <p:nvPr>
            <p:ph type="title"/>
          </p:nvPr>
        </p:nvSpPr>
        <p:spPr>
          <a:xfrm>
            <a:off x="729450" y="2424575"/>
            <a:ext cx="2717100" cy="48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(Execution and Synchronization)</a:t>
            </a:r>
            <a:endParaRPr sz="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8761D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4"/>
          <p:cNvSpPr txBox="1"/>
          <p:nvPr>
            <p:ph type="title"/>
          </p:nvPr>
        </p:nvSpPr>
        <p:spPr>
          <a:xfrm>
            <a:off x="729450" y="1322450"/>
            <a:ext cx="2717100" cy="7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Cloud</a:t>
            </a:r>
            <a:endParaRPr/>
          </a:p>
        </p:txBody>
      </p:sp>
      <p:sp>
        <p:nvSpPr>
          <p:cNvPr id="181" name="Google Shape;181;p24"/>
          <p:cNvSpPr txBox="1"/>
          <p:nvPr/>
        </p:nvSpPr>
        <p:spPr>
          <a:xfrm>
            <a:off x="3873275" y="949200"/>
            <a:ext cx="4915500" cy="32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cloud is composed of a cluster of nodes, organized into shards with multiple replicas to ensure scalability and fault tolerance.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Each node is responsible for: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Storing and managing shopping lists assigned to its shard;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Maintaining a list of alive nodes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Serving client requests via request–reply communication;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Propagating state to other replicas.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system uses two </a:t>
            </a: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communication patterns:</a:t>
            </a:r>
            <a:endParaRPr b="1"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REQ/REP 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for client–node interactions;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Gossip (PUSH/PULL)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for background state synchronization as well as dynamic discovery and eviction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This architecture allows the cloud to remain decentralized, with no single point of failure.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2" name="Google Shape;182;p24"/>
          <p:cNvSpPr txBox="1"/>
          <p:nvPr>
            <p:ph type="title"/>
          </p:nvPr>
        </p:nvSpPr>
        <p:spPr>
          <a:xfrm>
            <a:off x="780950" y="1894775"/>
            <a:ext cx="1230600" cy="48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(Architecture</a:t>
            </a:r>
            <a:r>
              <a:rPr lang="en" sz="1200"/>
              <a:t>)</a:t>
            </a:r>
            <a:endParaRPr sz="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8761D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5"/>
          <p:cNvSpPr txBox="1"/>
          <p:nvPr>
            <p:ph type="title"/>
          </p:nvPr>
        </p:nvSpPr>
        <p:spPr>
          <a:xfrm>
            <a:off x="729450" y="1322450"/>
            <a:ext cx="2717100" cy="7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Cloud</a:t>
            </a:r>
            <a:endParaRPr/>
          </a:p>
        </p:txBody>
      </p:sp>
      <p:sp>
        <p:nvSpPr>
          <p:cNvPr id="188" name="Google Shape;188;p25"/>
          <p:cNvSpPr txBox="1"/>
          <p:nvPr/>
        </p:nvSpPr>
        <p:spPr>
          <a:xfrm>
            <a:off x="3873275" y="611550"/>
            <a:ext cx="4915500" cy="39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Each shard is replicated across multiple nodes, ensuring that data remains available even if some replicas fail or disconnect.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Key properties: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Replication within shards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guarantees redundancy and resilience;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Eventual consistency 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is achieved through gossip and state  merging;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Node failures and partitions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are tolerated without stopping the system.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For demonstration purposes, nodes can be dynamically added, stopped, restarted and removed at runtime, reconnected nodes synchronize automatically via gossip, which is also used as heartbeat;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This design allows the system to </a:t>
            </a: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simulate real-world cloud failures and recovery scenarios.</a:t>
            </a:r>
            <a:endParaRPr b="1"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9" name="Google Shape;189;p25"/>
          <p:cNvSpPr txBox="1"/>
          <p:nvPr>
            <p:ph type="title"/>
          </p:nvPr>
        </p:nvSpPr>
        <p:spPr>
          <a:xfrm>
            <a:off x="729450" y="1902125"/>
            <a:ext cx="3408900" cy="49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(Replication and Fault </a:t>
            </a:r>
            <a:r>
              <a:rPr lang="en" sz="1200"/>
              <a:t>Tolerance</a:t>
            </a:r>
            <a:r>
              <a:rPr lang="en" sz="1200"/>
              <a:t>)</a:t>
            </a:r>
            <a:endParaRPr sz="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6"/>
          <p:cNvSpPr txBox="1"/>
          <p:nvPr>
            <p:ph type="title"/>
          </p:nvPr>
        </p:nvSpPr>
        <p:spPr>
          <a:xfrm>
            <a:off x="729450" y="1322450"/>
            <a:ext cx="2717100" cy="7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Cluster</a:t>
            </a:r>
            <a:endParaRPr/>
          </a:p>
        </p:txBody>
      </p:sp>
      <p:sp>
        <p:nvSpPr>
          <p:cNvPr id="195" name="Google Shape;195;p26"/>
          <p:cNvSpPr txBox="1"/>
          <p:nvPr/>
        </p:nvSpPr>
        <p:spPr>
          <a:xfrm>
            <a:off x="3873275" y="611550"/>
            <a:ext cx="4915500" cy="39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cluster is composed of: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Multiple shards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, each responsible for a subset of shopping lists;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Multiple replicas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per shard, providing redundancy and availability.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At startup: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Each node is assigned a unique identifier and its shard,;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Dedicated endpoints  are allocated for client requests and gossip;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Nodes can be dynamically added as long as they know at least one live node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This centralized bootstrapping simplifies experimentation while preserving a </a:t>
            </a: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fully decentralized runtime behavior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6" name="Google Shape;196;p26"/>
          <p:cNvSpPr txBox="1"/>
          <p:nvPr>
            <p:ph type="title"/>
          </p:nvPr>
        </p:nvSpPr>
        <p:spPr>
          <a:xfrm>
            <a:off x="729450" y="1894800"/>
            <a:ext cx="1995900" cy="49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(Setup and Execution)</a:t>
            </a:r>
            <a:endParaRPr sz="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B45F06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7"/>
          <p:cNvSpPr txBox="1"/>
          <p:nvPr>
            <p:ph type="title"/>
          </p:nvPr>
        </p:nvSpPr>
        <p:spPr>
          <a:xfrm>
            <a:off x="729450" y="1322450"/>
            <a:ext cx="2717100" cy="7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Node</a:t>
            </a:r>
            <a:endParaRPr/>
          </a:p>
        </p:txBody>
      </p:sp>
      <p:sp>
        <p:nvSpPr>
          <p:cNvPr id="202" name="Google Shape;202;p27"/>
          <p:cNvSpPr txBox="1"/>
          <p:nvPr/>
        </p:nvSpPr>
        <p:spPr>
          <a:xfrm>
            <a:off x="3873275" y="611550"/>
            <a:ext cx="4915500" cy="40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Each node operates as an independent replica responsible for managing shopping lists belonging to its shard.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Node responsibilities include: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Handling client requests via </a:t>
            </a: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REQ/REP communication;</a:t>
            </a:r>
            <a:endParaRPr b="1"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Storing data locally using SQLite;</a:t>
            </a:r>
            <a:endParaRPr b="1"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Periodically synchronizing state via  </a:t>
            </a: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PUSH</a:t>
            </a: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/PULL gossip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Merging states received both from clients and other nodes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This design allows the system to demonstrate replication, eventual consistency, and recovery under real-world failure scenarios.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03" name="Google Shape;203;p27"/>
          <p:cNvSpPr txBox="1"/>
          <p:nvPr>
            <p:ph type="title"/>
          </p:nvPr>
        </p:nvSpPr>
        <p:spPr>
          <a:xfrm>
            <a:off x="729450" y="1894800"/>
            <a:ext cx="1995900" cy="49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(Responsibilities and Behavior)</a:t>
            </a:r>
            <a:endParaRPr sz="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729450" y="1322450"/>
            <a:ext cx="2717100" cy="7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CRDT</a:t>
            </a:r>
            <a:endParaRPr/>
          </a:p>
        </p:txBody>
      </p:sp>
      <p:sp>
        <p:nvSpPr>
          <p:cNvPr id="209" name="Google Shape;209;p28"/>
          <p:cNvSpPr txBox="1"/>
          <p:nvPr/>
        </p:nvSpPr>
        <p:spPr>
          <a:xfrm>
            <a:off x="3873275" y="611550"/>
            <a:ext cx="4915500" cy="40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OR-Set is used to represent the set of items in a shopping list under concurrent updates.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Each add operation generates a unique tag.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Remove operations do not delete data, but </a:t>
            </a: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invalidate specific add tags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An item exists if at least one add tag has not been removed.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OR-Set allows replicas to independently update item sets and later converge to the same state without conflicts.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10" name="Google Shape;210;p28"/>
          <p:cNvSpPr txBox="1"/>
          <p:nvPr>
            <p:ph type="title"/>
          </p:nvPr>
        </p:nvSpPr>
        <p:spPr>
          <a:xfrm>
            <a:off x="729450" y="1894800"/>
            <a:ext cx="1995900" cy="49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(OR-Set)</a:t>
            </a:r>
            <a:endParaRPr sz="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9"/>
          <p:cNvSpPr txBox="1"/>
          <p:nvPr>
            <p:ph type="title"/>
          </p:nvPr>
        </p:nvSpPr>
        <p:spPr>
          <a:xfrm>
            <a:off x="729450" y="1322450"/>
            <a:ext cx="2717100" cy="7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CRDT</a:t>
            </a:r>
            <a:endParaRPr/>
          </a:p>
        </p:txBody>
      </p:sp>
      <p:sp>
        <p:nvSpPr>
          <p:cNvPr id="216" name="Google Shape;216;p29"/>
          <p:cNvSpPr txBox="1"/>
          <p:nvPr/>
        </p:nvSpPr>
        <p:spPr>
          <a:xfrm>
            <a:off x="3873275" y="611550"/>
            <a:ext cx="4915500" cy="40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PN-Counter is used to model quantities (e.g. desired and current item counts) in a distributed setting.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Each replica maintains its own </a:t>
            </a: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positive and negative counters</a:t>
            </a: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total value is computed as the sum of increments minus decrements.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During synchronization, counters are merged by taking the </a:t>
            </a:r>
            <a:r>
              <a:rPr b="1"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maximum value per replica.</a:t>
            </a:r>
            <a:endParaRPr b="1"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This design allows concurrent increments and decrements without coordination, while guaranteeing eventual consistency.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Together with the OR-Set, the PN-Counter ensures that both structure and quantities of shopping lists converge correctly across replicas.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17" name="Google Shape;217;p29"/>
          <p:cNvSpPr txBox="1"/>
          <p:nvPr>
            <p:ph type="title"/>
          </p:nvPr>
        </p:nvSpPr>
        <p:spPr>
          <a:xfrm>
            <a:off x="729450" y="1894800"/>
            <a:ext cx="1995900" cy="49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(PN-Counter)</a:t>
            </a:r>
            <a:endParaRPr sz="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C1130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/>
          <p:nvPr>
            <p:ph type="title"/>
          </p:nvPr>
        </p:nvSpPr>
        <p:spPr>
          <a:xfrm>
            <a:off x="729450" y="1322450"/>
            <a:ext cx="2717100" cy="7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Web Interface</a:t>
            </a:r>
            <a:endParaRPr/>
          </a:p>
        </p:txBody>
      </p:sp>
      <p:sp>
        <p:nvSpPr>
          <p:cNvPr id="223" name="Google Shape;223;p30"/>
          <p:cNvSpPr txBox="1"/>
          <p:nvPr/>
        </p:nvSpPr>
        <p:spPr>
          <a:xfrm>
            <a:off x="3873275" y="611550"/>
            <a:ext cx="4915500" cy="40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The web interface was designed as a simple and functional control panel for interacting with the system and demonstrating its distributed behavior.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Key design principles: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Simplicity and clarity: all actions are explicit and require minimal input.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Separation of concerns: list management and item management are clearly separated.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Immediate feedback: the interface reflects changes as soon as operations are executed.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Overall, the interface prioritizes demonstrability over complexity, making it suitable for showcasing local-first behavior, fault tolerance, and cloud synchronization in a live presentation.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C1130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1"/>
          <p:cNvSpPr txBox="1"/>
          <p:nvPr>
            <p:ph type="title"/>
          </p:nvPr>
        </p:nvSpPr>
        <p:spPr>
          <a:xfrm>
            <a:off x="627175" y="87725"/>
            <a:ext cx="2717100" cy="7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Web Interface</a:t>
            </a:r>
            <a:endParaRPr/>
          </a:p>
        </p:txBody>
      </p:sp>
      <p:sp>
        <p:nvSpPr>
          <p:cNvPr id="229" name="Google Shape;229;p31"/>
          <p:cNvSpPr txBox="1"/>
          <p:nvPr/>
        </p:nvSpPr>
        <p:spPr>
          <a:xfrm>
            <a:off x="3873275" y="611550"/>
            <a:ext cx="4915500" cy="40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30" name="Google Shape;230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0075" y="1673098"/>
            <a:ext cx="7283850" cy="2766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06666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2"/>
          <p:cNvSpPr txBox="1"/>
          <p:nvPr>
            <p:ph type="title"/>
          </p:nvPr>
        </p:nvSpPr>
        <p:spPr>
          <a:xfrm>
            <a:off x="729450" y="1322450"/>
            <a:ext cx="2901000" cy="7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Improvements</a:t>
            </a:r>
            <a:endParaRPr/>
          </a:p>
        </p:txBody>
      </p:sp>
      <p:sp>
        <p:nvSpPr>
          <p:cNvPr id="236" name="Google Shape;236;p32"/>
          <p:cNvSpPr txBox="1"/>
          <p:nvPr/>
        </p:nvSpPr>
        <p:spPr>
          <a:xfrm>
            <a:off x="3873275" y="611550"/>
            <a:ext cx="4915500" cy="40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